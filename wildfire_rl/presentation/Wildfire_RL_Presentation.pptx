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Wildfire Suppression via</a:t>
            </a:r>
            <a:br/>
            <a:r>
              <a:t>Reinforcement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91840"/>
            <a:ext cx="27432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Calibri"/>
              </a:defRPr>
            </a:pPr>
            <a:r>
              <a:t>Comparing RL Algorithms on a Forest Fire Cellular Automaton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Calibri"/>
              </a:defRPr>
            </a:pPr>
            <a:r>
              <a:t>MMAI-845  |  Team Union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Wildfire Suppression?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The problem and why RL is the right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Wildfire containment is a time-critical, spatially constrained resource routing problem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Fire spreads stochastically — every timestep of inaction expands the fire front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Incident commanders must make real-time routing decisions under extreme cognitive load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RL agents can learn adaptive suppression policies through thousands of simulated episodes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This project compares 4 agent strategies on a standardized forest fire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Calibri"/>
              </a:defRPr>
            </a:pPr>
            <a:r>
              <a:t>2,200+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Wildfires in BC 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Calibri"/>
              </a:defRPr>
            </a:pPr>
            <a:r>
              <a:t>$720M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Suppression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206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Calibri"/>
              </a:defRPr>
            </a:pPr>
            <a:r>
              <a:t>2.84M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Area Burned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Environment: ForestFireHelicopter5x5-v1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Pre-defined Gymnasium environment from gym-cellular-automata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5x5 grid  |  Drossel-Schwabl cellular automaton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Cell states: Empty (0), Tree (1), Fire (2)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Fire spreads to adjacent trees, burns out after 1 step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Random lightning strikes (p=0.033) start new fires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Trees regrow randomly (p=0.333)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Helicopter extinguishes fire by flying over burning cells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9 actions: 8 directions + stay</a:t>
            </a:r>
          </a:p>
        </p:txBody>
      </p:sp>
      <p:pic>
        <p:nvPicPr>
          <p:cNvPr id="6" name="Picture 5" descr="08_grid_snap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15560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Reward = (trees − fires) / 25  +  extinguish bonus  +  proximity bonus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Agents, Four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From trivial baseline to deep reinforcement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011680"/>
          </a:xfrm>
          <a:prstGeom prst="roundRect">
            <a:avLst/>
          </a:prstGeom>
          <a:solidFill>
            <a:srgbClr val="121A3E"/>
          </a:solidFill>
          <a:ln w="254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5A5A6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Trivial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Uniformly random actions.</a:t>
            </a:r>
            <a:br/>
            <a:r>
              <a:t>Establishes the performance floor.</a:t>
            </a:r>
            <a:br/>
            <a:r>
              <a:t>No intelligence whatsoever.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303520" cy="2011680"/>
          </a:xfrm>
          <a:prstGeom prst="roundRect">
            <a:avLst/>
          </a:prstGeom>
          <a:solidFill>
            <a:srgbClr val="121A3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Greedy (BFS)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Heuristic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BFS to nearest fire, move toward it.</a:t>
            </a:r>
            <a:br/>
            <a:r>
              <a:t>Perfect grid information access.</a:t>
            </a:r>
            <a:br/>
            <a:r>
              <a:t>Smart but not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303520" cy="2011680"/>
          </a:xfrm>
          <a:prstGeom prst="roundRect">
            <a:avLst/>
          </a:prstGeom>
          <a:solidFill>
            <a:srgbClr val="121A3E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DQN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Deep RL — Value-Based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Learns Q-values via replay buffer.</a:t>
            </a:r>
            <a:br/>
            <a:r>
              <a:t>Off-policy: reuses past experience.</a:t>
            </a:r>
            <a:br/>
            <a:r>
              <a:t>Neural net predicts action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840480"/>
            <a:ext cx="5303520" cy="2011680"/>
          </a:xfrm>
          <a:prstGeom prst="roundRect">
            <a:avLst/>
          </a:prstGeom>
          <a:solidFill>
            <a:srgbClr val="121A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PPO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Deep RL — Policy Gradient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Learns action probabilities directly.</a:t>
            </a:r>
            <a:br/>
            <a:r>
              <a:t>On-policy with clipped updates.</a:t>
            </a:r>
            <a:br/>
            <a:r>
              <a:t>Entropy bonus for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DQN — Deep Q-Network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Off-policy, value-based deep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Neural network approximates Q(s, a) — the expected reward of taking action a in state 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Replay buffer (100K experiences) enables learning from past transitions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Epsilon-greedy exploration: starts random, gradually becomes greedy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Target network updated every 250 steps for training stability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Network: 30 inputs → 128 → 128 → 9 outputs (one Q-value per action)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Key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Learning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5e-4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Buffer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Batch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Gamma (γ)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0.995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50% →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Training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500,000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PPO — Proximal Policy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On-policy, policy gradient deep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Learns a policy π(a|s) — the probability distribution over actions given state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On-policy: collects fresh trajectories (1,024 steps), then updates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Clipped surrogate objective prevents destructive large policy updates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Entropy bonus (0.02) encourages continued exploration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Network: 30 inputs → 128 → 128 → 9 action probabilities + value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Key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Learning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3e-4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Rollout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1,024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Update Epochs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Gamma (γ)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0.995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Clip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Entropy Coeff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0.02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Training Curves — Learning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Both agents improve significantly over 500K timesteps (~2,500 episodes)</a:t>
            </a:r>
          </a:p>
        </p:txBody>
      </p:sp>
      <p:pic>
        <p:nvPicPr>
          <p:cNvPr id="5" name="Picture 4" descr="0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Key Insight</a:t>
            </a:r>
            <a:br/>
            <a:br/>
            <a:r>
              <a:t>Both DQN and PPO show clear learning progression. DQN improves steadily via replay buffer. PPO shows more variance due to on-policy rollouts but converges to similar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— Fire Suppression Success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Percentage of episodes where all fire was extinguished</a:t>
            </a:r>
          </a:p>
        </p:txBody>
      </p:sp>
      <p:pic>
        <p:nvPicPr>
          <p:cNvPr id="5" name="Picture 4" descr="02_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898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Calibri"/>
              </a:defRPr>
            </a:pPr>
            <a:r>
              <a:t>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Greedy (Best)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  <a:latin typeface="Calibri"/>
              </a:defRPr>
            </a:pPr>
            <a:r>
              <a:t>19%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PPO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06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Calibri"/>
              </a:defRPr>
            </a:pPr>
            <a:r>
              <a:t>13%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DQN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5A5A6"/>
                </a:solidFill>
                <a:latin typeface="Calibri"/>
              </a:defRPr>
            </a:pPr>
            <a:r>
              <a:t>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Random (Floor)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— Mean Episode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100-episode evaluation with error bars (±1 std)</a:t>
            </a:r>
          </a:p>
        </p:txBody>
      </p:sp>
      <p:pic>
        <p:nvPicPr>
          <p:cNvPr id="5" name="Picture 4" descr="03_mean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898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Greedy:  265.1 (benchmark)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DQN:     200.7 (+55% vs Random)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PPO:     196.7 (+52% vs Random)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Random:  129.5 (floor)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Behavioral Analysis — Where Does Each Agent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Position frequency heatmaps across 100 evaluation episodes</a:t>
            </a:r>
          </a:p>
        </p:txBody>
      </p:sp>
      <p:pic>
        <p:nvPicPr>
          <p:cNvPr id="5" name="Picture 4" descr="04_positi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31758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Calibri"/>
              </a:defRPr>
            </a:pPr>
            <a:r>
              <a:t>Random spreads uniformly  |  Greedy concentrates on fire zones  |  RL agents develop spatial preferences through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Fire Suppression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Average fire cells remaining over the episode timeline</a:t>
            </a:r>
          </a:p>
        </p:txBody>
      </p:sp>
      <p:pic>
        <p:nvPicPr>
          <p:cNvPr id="5" name="Picture 4" descr="05_fire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Key Insight</a:t>
            </a:r>
            <a:br/>
            <a:br/>
            <a:r>
              <a:t>Greedy suppresses fire fastest due to direct BFS targeting. RL agents show intermediate performance — they learn to move toward fire but without perfect grid access, they are less efficient.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Hyperparameter Sensitivity — Learning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How learning rate affects final performance (100K timesteps, last 50 episodes)</a:t>
            </a:r>
          </a:p>
        </p:txBody>
      </p:sp>
      <p:pic>
        <p:nvPicPr>
          <p:cNvPr id="5" name="Picture 4" descr="07_hyperparam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476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Calibri"/>
              </a:defRPr>
            </a:pPr>
            <a:r>
              <a:t>Both algorithms are sensitive to learning rate  |  Too low = slow convergence  |  Too high = instability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Reward Shaping — A Critical 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Why the base reward wasn't enough, and how we fixed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The Problem: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Base reward = (trees − fires) / 25 per step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Dominated by stochastic fire spawning (random lightning)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Agent's actions had tiny marginal effect on reward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Result: DQN and PPO failed to learn (= Random performance)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The Fix: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+2.0 bonus for extinguishing a fire cell (direct action reward)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+0.5 proximity bonus for being close to fire (guidance signal)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Result: 2x reward gap between Greedy and Random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DQN and PPO now learn clearly (+55% above Random)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Lesson: In highly stochastic environments, the agent needs a reward signal that directly reflects its actions, not just the global system state. Reward engineering is as important as algorithm selection.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Training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Wall-clock time for 500K timesteps on a single machine</a:t>
            </a:r>
          </a:p>
        </p:txBody>
      </p:sp>
      <p:pic>
        <p:nvPicPr>
          <p:cNvPr id="5" name="Picture 4" descr="06_train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0292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DQN: Off-policy replay is computationally cheaper per step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PPO: On-policy rollouts + multiple gradient epochs add overhead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Both trained on a single CPU — no GPU required for this environment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The 5x5 grid keeps state space small enough for efficient 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1.  RL agents can learn fire suppression strategies from scratch — both DQN and PPO significantly outperform random baselines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2.  Domain heuristics (Greedy BFS) outperform general-purpose RL on small, fully-observable problems — but RL scales to scenarios where heuristics break down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3.  Reward shaping is critical in stochastic environments — the agent needs a signal that reflects its actions, not just the system state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4.  PPO shows better success rate than DQN (19% vs 13%) despite similar mean reward — on-policy learning may produce more consistent suppression behavior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5.  Hyperparameter sensitivity is real — both algorithms are sensitive to learning rate, reinforcing the need for systematic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AAAAAA"/>
                </a:solidFill>
                <a:latin typeface="Calibri"/>
              </a:defRPr>
            </a:pPr>
            <a:r>
              <a:t>Scale to larger grids (16x16, 32x32) where heuristics fail</a:t>
            </a:r>
          </a:p>
          <a:p>
            <a:pPr>
              <a:spcAft>
                <a:spcPts val="600"/>
              </a:spcAft>
              <a:defRPr sz="1400">
                <a:solidFill>
                  <a:srgbClr val="AAAAAA"/>
                </a:solidFill>
                <a:latin typeface="Calibri"/>
              </a:defRPr>
            </a:pPr>
            <a:r>
              <a:t>Add wind dynamics and terrain features</a:t>
            </a:r>
          </a:p>
          <a:p>
            <a:pPr>
              <a:spcAft>
                <a:spcPts val="600"/>
              </a:spcAft>
              <a:defRPr sz="1400">
                <a:solidFill>
                  <a:srgbClr val="AAAAAA"/>
                </a:solidFill>
                <a:latin typeface="Calibri"/>
              </a:defRPr>
            </a:pPr>
            <a:r>
              <a:t>Multi-agent coordination (multiple helicopters)</a:t>
            </a:r>
          </a:p>
          <a:p>
            <a:pPr>
              <a:spcAft>
                <a:spcPts val="600"/>
              </a:spcAft>
              <a:defRPr sz="1400">
                <a:solidFill>
                  <a:srgbClr val="AAAAAA"/>
                </a:solidFill>
                <a:latin typeface="Calibri"/>
              </a:defRPr>
            </a:pPr>
            <a:r>
              <a:t>Transfer learning across environment configurations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30552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Environment: gym-cellular-automata  |  Framework: Stable-Baselines3  |  Code: github.com/team-union/wildfire-rl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